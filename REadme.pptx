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74" r:id="rId13"/>
    <p:sldId id="275" r:id="rId14"/>
    <p:sldId id="266" r:id="rId15"/>
    <p:sldId id="267" r:id="rId16"/>
    <p:sldId id="268" r:id="rId17"/>
    <p:sldId id="277" r:id="rId18"/>
    <p:sldId id="272" r:id="rId19"/>
    <p:sldId id="269" r:id="rId20"/>
  </p:sldIdLst>
  <p:sldSz cx="12192000" cy="6858000"/>
  <p:notesSz cx="6858000" cy="9144000"/>
  <p:embeddedFontLst>
    <p:embeddedFont>
      <p:font typeface="Abril Fatface" panose="02000503000000020003" pitchFamily="2" charset="0"/>
      <p:regular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wctnm97movJ/zFWKLLimTNDHU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CC9D2A-7B5C-46EF-8C04-EABA822C7AC6}" v="2" dt="2026-08-19T09:20:40.407"/>
  </p1510:revLst>
</p1510:revInfo>
</file>

<file path=ppt/tableStyles.xml><?xml version="1.0" encoding="utf-8"?>
<a:tblStyleLst xmlns:a="http://schemas.openxmlformats.org/drawingml/2006/main" def="{34F68351-58DF-4D05-9E6C-5F2766BE63FB}">
  <a:tblStyle styleId="{34F68351-58DF-4D05-9E6C-5F2766BE63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li Bhaturkar" userId="c3741d2214d97478" providerId="LiveId" clId="{AF133DFD-0E79-4650-BE9D-7BC0D72EAEFB}"/>
    <pc:docChg chg="custSel addSld modSld">
      <pc:chgData name="Deepali Bhaturkar" userId="c3741d2214d97478" providerId="LiveId" clId="{AF133DFD-0E79-4650-BE9D-7BC0D72EAEFB}" dt="2026-08-19T09:29:05.810" v="45" actId="1076"/>
      <pc:docMkLst>
        <pc:docMk/>
      </pc:docMkLst>
      <pc:sldChg chg="delSp mod">
        <pc:chgData name="Deepali Bhaturkar" userId="c3741d2214d97478" providerId="LiveId" clId="{AF133DFD-0E79-4650-BE9D-7BC0D72EAEFB}" dt="2026-08-17T10:45:28.897" v="0" actId="478"/>
        <pc:sldMkLst>
          <pc:docMk/>
          <pc:sldMk cId="0" sldId="257"/>
        </pc:sldMkLst>
      </pc:sldChg>
      <pc:sldChg chg="addSp delSp modSp new mod">
        <pc:chgData name="Deepali Bhaturkar" userId="c3741d2214d97478" providerId="LiveId" clId="{AF133DFD-0E79-4650-BE9D-7BC0D72EAEFB}" dt="2026-08-19T09:21:26.703" v="36" actId="207"/>
        <pc:sldMkLst>
          <pc:docMk/>
          <pc:sldMk cId="2819691727" sldId="276"/>
        </pc:sldMkLst>
        <pc:spChg chg="del">
          <ac:chgData name="Deepali Bhaturkar" userId="c3741d2214d97478" providerId="LiveId" clId="{AF133DFD-0E79-4650-BE9D-7BC0D72EAEFB}" dt="2026-08-19T09:19:36.777" v="2" actId="478"/>
          <ac:spMkLst>
            <pc:docMk/>
            <pc:sldMk cId="2819691727" sldId="276"/>
            <ac:spMk id="2" creationId="{29A2E5D9-9AAC-0DAB-A7DB-335E976DAB3E}"/>
          </ac:spMkLst>
        </pc:spChg>
        <pc:spChg chg="del">
          <ac:chgData name="Deepali Bhaturkar" userId="c3741d2214d97478" providerId="LiveId" clId="{AF133DFD-0E79-4650-BE9D-7BC0D72EAEFB}" dt="2026-08-19T09:19:39.028" v="3" actId="478"/>
          <ac:spMkLst>
            <pc:docMk/>
            <pc:sldMk cId="2819691727" sldId="276"/>
            <ac:spMk id="3" creationId="{D0F5AE46-956B-BDFA-83E8-AFD30CD910A2}"/>
          </ac:spMkLst>
        </pc:spChg>
        <pc:spChg chg="mod">
          <ac:chgData name="Deepali Bhaturkar" userId="c3741d2214d97478" providerId="LiveId" clId="{AF133DFD-0E79-4650-BE9D-7BC0D72EAEFB}" dt="2026-08-19T09:20:28.380" v="10" actId="1076"/>
          <ac:spMkLst>
            <pc:docMk/>
            <pc:sldMk cId="2819691727" sldId="276"/>
            <ac:spMk id="4" creationId="{D2466C6B-D211-311A-04DC-2AD3A3529D2D}"/>
          </ac:spMkLst>
        </pc:spChg>
        <pc:spChg chg="add mod">
          <ac:chgData name="Deepali Bhaturkar" userId="c3741d2214d97478" providerId="LiveId" clId="{AF133DFD-0E79-4650-BE9D-7BC0D72EAEFB}" dt="2026-08-19T09:21:26.703" v="36" actId="207"/>
          <ac:spMkLst>
            <pc:docMk/>
            <pc:sldMk cId="2819691727" sldId="276"/>
            <ac:spMk id="8" creationId="{FB3AB09C-A1E3-6736-F60E-8938F4A8B5ED}"/>
          </ac:spMkLst>
        </pc:spChg>
        <pc:picChg chg="add mod">
          <ac:chgData name="Deepali Bhaturkar" userId="c3741d2214d97478" providerId="LiveId" clId="{AF133DFD-0E79-4650-BE9D-7BC0D72EAEFB}" dt="2026-08-19T09:21:17.324" v="34" actId="1076"/>
          <ac:picMkLst>
            <pc:docMk/>
            <pc:sldMk cId="2819691727" sldId="276"/>
            <ac:picMk id="7" creationId="{C5B162D1-1666-54A6-0013-CD389384BFAF}"/>
          </ac:picMkLst>
        </pc:picChg>
      </pc:sldChg>
      <pc:sldChg chg="addSp delSp modSp new mod">
        <pc:chgData name="Deepali Bhaturkar" userId="c3741d2214d97478" providerId="LiveId" clId="{AF133DFD-0E79-4650-BE9D-7BC0D72EAEFB}" dt="2026-08-19T09:29:05.810" v="45" actId="1076"/>
        <pc:sldMkLst>
          <pc:docMk/>
          <pc:sldMk cId="1410174109" sldId="277"/>
        </pc:sldMkLst>
        <pc:spChg chg="del">
          <ac:chgData name="Deepali Bhaturkar" userId="c3741d2214d97478" providerId="LiveId" clId="{AF133DFD-0E79-4650-BE9D-7BC0D72EAEFB}" dt="2026-08-19T09:28:44.366" v="38" actId="478"/>
          <ac:spMkLst>
            <pc:docMk/>
            <pc:sldMk cId="1410174109" sldId="277"/>
            <ac:spMk id="2" creationId="{9B43CD04-4383-D50E-92E2-CCFE8939380F}"/>
          </ac:spMkLst>
        </pc:spChg>
        <pc:spChg chg="del">
          <ac:chgData name="Deepali Bhaturkar" userId="c3741d2214d97478" providerId="LiveId" clId="{AF133DFD-0E79-4650-BE9D-7BC0D72EAEFB}" dt="2026-08-19T09:28:46.468" v="39" actId="478"/>
          <ac:spMkLst>
            <pc:docMk/>
            <pc:sldMk cId="1410174109" sldId="277"/>
            <ac:spMk id="3" creationId="{E441B1F6-8EE3-9661-DEFE-4AA283489095}"/>
          </ac:spMkLst>
        </pc:spChg>
        <pc:spChg chg="add mod">
          <ac:chgData name="Deepali Bhaturkar" userId="c3741d2214d97478" providerId="LiveId" clId="{AF133DFD-0E79-4650-BE9D-7BC0D72EAEFB}" dt="2026-08-19T09:29:05.810" v="45" actId="1076"/>
          <ac:spMkLst>
            <pc:docMk/>
            <pc:sldMk cId="1410174109" sldId="277"/>
            <ac:spMk id="9" creationId="{A3F27B10-8159-0984-C119-8E5EBDEEC24E}"/>
          </ac:spMkLst>
        </pc:spChg>
        <pc:picChg chg="add mod">
          <ac:chgData name="Deepali Bhaturkar" userId="c3741d2214d97478" providerId="LiveId" clId="{AF133DFD-0E79-4650-BE9D-7BC0D72EAEFB}" dt="2026-08-19T09:28:52.985" v="43" actId="1076"/>
          <ac:picMkLst>
            <pc:docMk/>
            <pc:sldMk cId="1410174109" sldId="277"/>
            <ac:picMk id="7" creationId="{A4CDD624-8DFD-7FA5-91A5-E4B75DCF7FAB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3a95b6b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3a95b6bb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f73a95b6bb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Department of AI &amp; DS, MMOCE, Pune</a:t>
            </a:r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60438" y="972998"/>
            <a:ext cx="10805651" cy="515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Understanding the 5th Semester Mini Project</a:t>
            </a:r>
          </a:p>
          <a:p/>
          <a:p>
            <a:r>
              <a:t>Department of Artificial Intelligence &amp; Data Science</a:t>
            </a:r>
          </a:p>
          <a:p/>
          <a:p/>
          <a:p>
            <a:r>
              <a:t>Mini Project Framework</a:t>
            </a:r>
          </a:p>
          <a:p>
            <a:r>
              <a:t>Academic Year: 2026–27</a:t>
            </a:r>
          </a:p>
          <a:p>
            <a:r>
              <a:t>Presented By : [Your Team Name]</a:t>
            </a:r>
          </a:p>
          <a:p>
            <a:r>
              <a:t>Medi-Flow Systems: AI-Powered Pharmacy Management</a:t>
            </a:r>
          </a:p>
          <a:p>
            <a:r>
              <a:t>Date: 17/8/2026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560438" y="2272459"/>
            <a:ext cx="10516800" cy="9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Arial"/>
              <a:buNone/>
            </a:pPr>
            <a:r>
              <a:rPr lang="en-IN"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</a:pPr>
            <a:endParaRPr sz="5778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</a:pPr>
            <a:endParaRPr sz="5778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</a:pPr>
            <a:endParaRPr sz="5778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</a:pPr>
            <a:endParaRPr sz="5778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 descr="lettrhead-to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685" y="64770"/>
            <a:ext cx="11396345" cy="16408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62488-A7DB-C29B-42F4-8439A3AB37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314631" y="-213978"/>
            <a:ext cx="12211665" cy="610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5F91"/>
              </a:buClr>
              <a:buSzPts val="4000"/>
              <a:buFont typeface="Times New Roman"/>
              <a:buNone/>
            </a:pPr>
            <a:r>
              <a:rPr lang="en-IN" sz="4000" b="1" i="0" u="none" strike="noStrike" cap="none">
                <a:solidFill>
                  <a:srgbClr val="365F9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Common Rubric</a:t>
            </a:r>
            <a:endParaRPr sz="4000" b="1" i="0" u="none" strike="noStrike" cap="none">
              <a:solidFill>
                <a:srgbClr val="365F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 and mapping to foundational courses - 10 marks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generation / architecture / design alternatives - 10 marks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design calculations / database design / algorithms - 10 marks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progress, logbook, and review discipline - 10 marks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Testing, validation, and interpretation of results - 10 marks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model / executable software / demonstrator quality - 15 marks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presentation and demo - 20 marks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report and individual viva - 15 marks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2F399B-DFB4-015B-BD75-547A6D2005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1981560" y="-353436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Foundational Courses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58875" y="446033"/>
            <a:ext cx="8229000" cy="4525200"/>
          </a:xfrm>
          <a:prstGeom prst="rect">
            <a:avLst/>
          </a:prstGeom>
          <a:noFill/>
          <a:ln>
            <a:noFill/>
          </a:ln>
          <a:effectLst>
            <a:outerShdw blurRad="85725" algn="bl" rotWithShape="0">
              <a:schemeClr val="dk1">
                <a:alpha val="0"/>
              </a:schemeClr>
            </a:outerShdw>
            <a:reflection stA="0" endPos="76000" dist="38100" dir="540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First-year/common foundational courses: </a:t>
            </a:r>
            <a:endParaRPr sz="2400" b="0" i="0" u="none" strike="noStrike" cap="non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Programming Languages</a:t>
            </a:r>
            <a:endParaRPr/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Artificial Intelligence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Exploration Lab I &amp; II (basic of IoT, C, Python)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Second-year department core courses: </a:t>
            </a:r>
            <a:endParaRPr sz="2400" b="0" i="0" u="none" strike="noStrike" cap="non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Solving and Object Oriented Programming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and Administration</a:t>
            </a:r>
            <a:endParaRPr/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</a:t>
            </a:r>
            <a:endParaRPr/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EDIL Lab (Basic Statistics, Data Visualization, Python)</a:t>
            </a:r>
            <a:endParaRPr/>
          </a:p>
          <a:p>
            <a:pPr marL="457200" marR="0" lvl="0" indent="-2029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029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ftr" idx="11"/>
          </p:nvPr>
        </p:nvSpPr>
        <p:spPr>
          <a:xfrm>
            <a:off x="8168148" y="62751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C990C1-16DB-4837-ED73-C899B67A87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3a95b6bb_0_10"/>
          <p:cNvSpPr txBox="1"/>
          <p:nvPr/>
        </p:nvSpPr>
        <p:spPr>
          <a:xfrm>
            <a:off x="3848675" y="225200"/>
            <a:ext cx="6765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>
                <a:latin typeface="Times New Roman"/>
                <a:ea typeface="Times New Roman"/>
                <a:cs typeface="Times New Roman"/>
                <a:sym typeface="Times New Roman"/>
              </a:rPr>
              <a:t>PROJECT MILESTONE TRACKING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2" name="Google Shape;112;g3f73a95b6bb_0_10"/>
          <p:cNvGraphicFramePr/>
          <p:nvPr>
            <p:extLst>
              <p:ext uri="{D42A27DB-BD31-4B8C-83A1-F6EECF244321}">
                <p14:modId xmlns:p14="http://schemas.microsoft.com/office/powerpoint/2010/main" val="2212217426"/>
              </p:ext>
            </p:extLst>
          </p:nvPr>
        </p:nvGraphicFramePr>
        <p:xfrm>
          <a:off x="670110" y="810200"/>
          <a:ext cx="10429875" cy="5134497"/>
        </p:xfrm>
        <a:graphic>
          <a:graphicData uri="http://schemas.openxmlformats.org/drawingml/2006/table">
            <a:tbl>
              <a:tblPr>
                <a:noFill/>
                <a:tableStyleId>{34F68351-58DF-4D05-9E6C-5F2766BE63FB}</a:tableStyleId>
              </a:tblPr>
              <a:tblGrid>
                <a:gridCol w="81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Weeks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Activities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Deliverable / Checkpoint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1–2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Orientation &amp; Topic Selection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Understand project domain, identify problem, team formation, topic </a:t>
                      </a:r>
                      <a:r>
                        <a:rPr lang="en-I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 Note / Problem Statement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3–4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Problem Definition &amp; Requirements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Define objectives, scope, functional &amp; non-functional requirements, mapping to foundational courses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Requirement Specification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5–6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Concept Design &amp; Architecture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architecture, workflow, technology selection, database/model design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 &amp; Design Document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7–8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Detailed Design &amp; Planning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Module design, algorithms, dataset planning, task allocation, project schedule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Detailed Design &amp; Work Plan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9–11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Implementation &amp; Integration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Coding, model development, database integration, module integration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Working Prototype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12–13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Testing, Validation &amp; Improvement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Functional testing, model evaluation, debugging, performance improvement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&amp; Validation Report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14–15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 Final Demonstration &amp; Reporting</a:t>
                      </a:r>
                      <a:endParaRPr sz="13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integration, demonstration, documentation, presentation and viva preparation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Report + Demo + Presentation</a:t>
                      </a:r>
                      <a:endParaRPr sz="13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D00E47-858B-7F3A-4951-C9A8E2A53A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AI &amp; DS, MMOCE, Pune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436D53-A133-28C4-CF63-C75919E0E3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286075" y="917400"/>
            <a:ext cx="84636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of the Project :</a:t>
            </a:r>
            <a:endParaRPr/>
          </a:p>
          <a:p>
            <a:pPr marL="457200" marR="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endParaRPr sz="3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286075" y="1532400"/>
            <a:ext cx="6096000" cy="5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Module 1: E-Commerce &amp; Family Medicine Management</a:t>
            </a:r>
          </a:p>
          <a:p>
            <a:r>
              <a:t>Functions:</a:t>
            </a:r>
          </a:p>
          <a:p>
            <a:r>
              <a:t>Dual-portal architecture </a:t>
            </a:r>
          </a:p>
          <a:p>
            <a:r>
              <a:t>Family Medicine Management </a:t>
            </a:r>
          </a:p>
          <a:p>
            <a:r>
              <a:t>Searchable product catalog </a:t>
            </a:r>
          </a:p>
          <a:p>
            <a:r>
              <a:t>Shopping cart &amp; checkout </a:t>
            </a:r>
          </a:p>
          <a:p>
            <a:r>
              <a:t>Product search </a:t>
            </a:r>
          </a:p>
          <a:p>
            <a:r>
              <a:t>Subjects Mapped:</a:t>
            </a:r>
          </a:p>
          <a:p>
            <a:r>
              <a:t>Object Oriented Programming </a:t>
            </a:r>
          </a:p>
          <a:p>
            <a:r>
              <a:t>Database Management Systems </a:t>
            </a:r>
          </a:p>
          <a:p>
            <a:r>
              <a:t>Fundamentals of Programming Languages </a:t>
            </a:r>
          </a:p>
          <a:p>
            <a:r>
              <a:t>Concepts used:</a:t>
            </a:r>
          </a:p>
          <a:p>
            <a:r>
              <a:t>Classes and objects </a:t>
            </a:r>
          </a:p>
          <a:p>
            <a:r>
              <a:t>Inheritance </a:t>
            </a:r>
          </a:p>
          <a:p>
            <a:r>
              <a:t>CRUD operations </a:t>
            </a:r>
          </a:p>
          <a:p>
            <a:r>
              <a:t>SQL queries </a:t>
            </a:r>
          </a:p>
          <a:p>
            <a:r>
              <a:t>Functions and modules</a:t>
            </a:r>
          </a:p>
        </p:txBody>
      </p:sp>
      <p:sp>
        <p:nvSpPr>
          <p:cNvPr id="120" name="Google Shape;120;p5"/>
          <p:cNvSpPr txBox="1"/>
          <p:nvPr/>
        </p:nvSpPr>
        <p:spPr>
          <a:xfrm>
            <a:off x="5809910" y="1317901"/>
            <a:ext cx="6096000" cy="5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Module 2: Inventory &amp; Expiry Management</a:t>
            </a:r>
          </a:p>
          <a:p>
            <a:r>
              <a:t>Functions:</a:t>
            </a:r>
          </a:p>
          <a:p>
            <a:r>
              <a:t>Add/update/delete inventory </a:t>
            </a:r>
          </a:p>
          <a:p>
            <a:r>
              <a:t>Medicine Expiry Prediction &amp; Alerts </a:t>
            </a:r>
          </a:p>
          <a:p>
            <a:r>
              <a:t>FEFO dispensing logic </a:t>
            </a:r>
          </a:p>
          <a:p>
            <a:r>
              <a:t>Dead-Stock Detection </a:t>
            </a:r>
          </a:p>
          <a:p>
            <a:r>
              <a:t>Batch tracking </a:t>
            </a:r>
          </a:p>
          <a:p>
            <a:r>
              <a:t>Subjects:</a:t>
            </a:r>
          </a:p>
          <a:p>
            <a:r>
              <a:t>DBMS </a:t>
            </a:r>
          </a:p>
          <a:p>
            <a:r>
              <a:t>Data Structures and Algorithms </a:t>
            </a:r>
          </a:p>
          <a:p>
            <a:r>
              <a:t>OOP </a:t>
            </a:r>
          </a:p>
          <a:p>
            <a:r>
              <a:t>Python</a:t>
            </a:r>
          </a:p>
          <a:p>
            <a:r>
              <a:t>Concepts used:</a:t>
            </a:r>
          </a:p>
          <a:p>
            <a:r>
              <a:t>Classes and objects </a:t>
            </a:r>
          </a:p>
          <a:p>
            <a:r>
              <a:t>Inheritance </a:t>
            </a:r>
          </a:p>
          <a:p>
            <a:r>
              <a:t>CRUD operations </a:t>
            </a:r>
          </a:p>
          <a:p>
            <a:r>
              <a:t>SQL queries </a:t>
            </a:r>
          </a:p>
          <a:p>
            <a:r>
              <a:t>Functions and modules</a:t>
            </a:r>
          </a:p>
          <a:p/>
        </p:txBody>
      </p:sp>
      <p:sp>
        <p:nvSpPr>
          <p:cNvPr id="121" name="Google Shape;121;p5"/>
          <p:cNvSpPr txBox="1"/>
          <p:nvPr/>
        </p:nvSpPr>
        <p:spPr>
          <a:xfrm>
            <a:off x="2453350" y="0"/>
            <a:ext cx="8229000" cy="917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r>
              <a:t>Project Theme:</a:t>
            </a:r>
          </a:p>
          <a:p>
            <a:r>
              <a:t>AI-Powered Medical Store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2D8AF8-9675-C32B-E51D-EAA056CCC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186814" y="136525"/>
            <a:ext cx="5427406" cy="634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Module 3: AI &amp; Image Processing (OCR)</a:t>
            </a:r>
          </a:p>
          <a:p>
            <a:r>
              <a:t>Functions:</a:t>
            </a:r>
          </a:p>
          <a:p>
            <a:r>
              <a:t>Prescription image upload </a:t>
            </a:r>
          </a:p>
          <a:p>
            <a:r>
              <a:t>Prescription OCR extraction </a:t>
            </a:r>
          </a:p>
          <a:p>
            <a:r>
              <a:t>Automatic Medicine Extraction </a:t>
            </a:r>
          </a:p>
          <a:p>
            <a:r>
              <a:t>Cross-referencing inventory </a:t>
            </a:r>
          </a:p>
          <a:p>
            <a:r>
              <a:t>AI text parsing </a:t>
            </a:r>
          </a:p>
          <a:p>
            <a:r>
              <a:t>Subjects:</a:t>
            </a:r>
          </a:p>
          <a:p>
            <a:r>
              <a:t>Fundamentals of AI </a:t>
            </a:r>
          </a:p>
          <a:p>
            <a:r>
              <a:t>Python </a:t>
            </a:r>
          </a:p>
          <a:p>
            <a:r>
              <a:t>Statistics </a:t>
            </a:r>
          </a:p>
          <a:p>
            <a:r>
              <a:t>Principles of Programming Languages </a:t>
            </a:r>
          </a:p>
          <a:p>
            <a:r>
              <a:t>This module demonstrates how raw retail data is converted into usable analytical data.</a:t>
            </a:r>
          </a:p>
        </p:txBody>
      </p:sp>
      <p:sp>
        <p:nvSpPr>
          <p:cNvPr id="128" name="Google Shape;128;p6"/>
          <p:cNvSpPr txBox="1"/>
          <p:nvPr/>
        </p:nvSpPr>
        <p:spPr>
          <a:xfrm>
            <a:off x="5909186" y="136525"/>
            <a:ext cx="6096000" cy="594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Module 4: Demand Analytics &amp; Smart Replenishment</a:t>
            </a:r>
          </a:p>
          <a:p>
            <a:r>
              <a:t>Functions:</a:t>
            </a:r>
          </a:p>
          <a:p>
            <a:r>
              <a:t>Medicine Demand Heatmap </a:t>
            </a:r>
          </a:p>
          <a:p>
            <a:r>
              <a:t>Stock Replenishment Prediction </a:t>
            </a:r>
          </a:p>
          <a:p>
            <a:r>
              <a:t>Aggregate POS Sales &amp; Online Orders </a:t>
            </a:r>
          </a:p>
          <a:p>
            <a:r>
              <a:t>Identify unusual demand spikes </a:t>
            </a:r>
          </a:p>
          <a:p>
            <a:r>
              <a:t>Data visualization arrays</a:t>
            </a:r>
          </a:p>
          <a:p>
            <a:r>
              <a:t>Subjects:</a:t>
            </a:r>
          </a:p>
          <a:p>
            <a:r>
              <a:t>Data Structures and Algorithms </a:t>
            </a:r>
          </a:p>
          <a:p>
            <a:r>
              <a:t>OOP </a:t>
            </a:r>
          </a:p>
          <a:p>
            <a:r>
              <a:t>Python </a:t>
            </a:r>
          </a:p>
          <a:p>
            <a:r>
              <a:t>Concepts:</a:t>
            </a:r>
          </a:p>
          <a:p>
            <a:r>
              <a:t>Arrays/Lists </a:t>
            </a:r>
          </a:p>
          <a:p>
            <a:r>
              <a:t>Sets </a:t>
            </a:r>
          </a:p>
          <a:p>
            <a:r>
              <a:t>Dictionaries/Hash Tables </a:t>
            </a:r>
          </a:p>
          <a:p>
            <a:r>
              <a:t>Searching </a:t>
            </a:r>
          </a:p>
          <a:p>
            <a:r>
              <a:t>Sorting </a:t>
            </a:r>
          </a:p>
          <a:p>
            <a:r>
              <a:t>Hashing</a:t>
            </a:r>
          </a:p>
          <a:p/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6596CA-AD6B-8B4C-22D7-B2D7677618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324465" y="223202"/>
            <a:ext cx="4375354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5: Market Basket Analysis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frequently purchased products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frequent item sets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product combinations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Apriori/FP-Growth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Fundamentals of Artificial Intelligence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 and Algorithms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Discrete Mathematics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concepts: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discovery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Association rule mining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5594555" y="223202"/>
            <a:ext cx="6096000" cy="654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6: Association Rule Mining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I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</a:t>
            </a:r>
            <a:endParaRPr sz="20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rules such as: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ril Fatface"/>
              <a:buNone/>
            </a:pPr>
            <a:r>
              <a:rPr lang="en-IN" sz="18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         Bread + Butter → Jam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Discrete Mathematics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DSA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Concepts</a:t>
            </a:r>
            <a:endParaRPr sz="1800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operations such as: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Union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Intersection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Subset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0BA6-BF46-E0B2-6C53-587EA9F29D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285136" y="381366"/>
            <a:ext cx="5506064" cy="544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7: Customer Segmentation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customer purchase frequency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high-value customers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customers based on purchasing behaviour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frequent vs occasional customers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AI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6233652" y="381366"/>
            <a:ext cx="6096000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8: Product Recommendation System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recommends products based on previously purchased items.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DSA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1D8BED-67A4-32D6-C61E-512536D494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226041" y="-3450"/>
            <a:ext cx="5063700" cy="6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9: Dashboard &amp; Visualization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 interactive dashboard showing: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Retail Basket Analysis Dashboard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Selling Products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Frequently Brought Together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EDIL Lab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AI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Pie chart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graph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association graph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5289755" y="69125"/>
            <a:ext cx="6774300" cy="3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10: Business Recommendation &amp; Report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converts analytical results into business suggestions.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None/>
            </a:pPr>
            <a:r>
              <a:rPr lang="en-IN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 and Butter frequently purchased - Create combo offer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F6D0AA-D9D0-33BE-8AE6-C457FFB19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825910" y="136525"/>
            <a:ext cx="6096000" cy="5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11: System Administration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login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management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backup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import/export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monitoring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and Administration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F4F6AA-7F94-5A92-3FA9-EB31D35847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66C6B-D211-311A-04DC-2AD3A3529D2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dirty="0"/>
              <a:t>Department of AI &amp; DS, MMOCE,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23E10-9C2E-7D31-6A62-D8E500076F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162D1-1666-54A6-0013-CD389384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81" y="800510"/>
            <a:ext cx="9086235" cy="60574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3AB09C-A1E3-6736-F60E-8938F4A8B5ED}"/>
              </a:ext>
            </a:extLst>
          </p:cNvPr>
          <p:cNvSpPr txBox="1"/>
          <p:nvPr/>
        </p:nvSpPr>
        <p:spPr>
          <a:xfrm>
            <a:off x="4436806" y="13259"/>
            <a:ext cx="371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691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14492-8F09-5BF7-ED33-4B9F6A9F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216B35-F6C2-8A06-4226-726A01A788F2}"/>
              </a:ext>
            </a:extLst>
          </p:cNvPr>
          <p:cNvSpPr txBox="1"/>
          <p:nvPr/>
        </p:nvSpPr>
        <p:spPr>
          <a:xfrm>
            <a:off x="2379406" y="-63666"/>
            <a:ext cx="7983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Risk Areas and Potential Challenges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B5A7B5-E60B-D283-DE90-CD47D403D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505023"/>
              </p:ext>
            </p:extLst>
          </p:nvPr>
        </p:nvGraphicFramePr>
        <p:xfrm>
          <a:off x="127819" y="666135"/>
          <a:ext cx="11700388" cy="5525730"/>
        </p:xfrm>
        <a:graphic>
          <a:graphicData uri="http://schemas.openxmlformats.org/drawingml/2006/table">
            <a:tbl>
              <a:tblPr/>
              <a:tblGrid>
                <a:gridCol w="2290917">
                  <a:extLst>
                    <a:ext uri="{9D8B030D-6E8A-4147-A177-3AD203B41FA5}">
                      <a16:colId xmlns:a16="http://schemas.microsoft.com/office/drawing/2014/main" val="26092210"/>
                    </a:ext>
                  </a:extLst>
                </a:gridCol>
                <a:gridCol w="4218039">
                  <a:extLst>
                    <a:ext uri="{9D8B030D-6E8A-4147-A177-3AD203B41FA5}">
                      <a16:colId xmlns:a16="http://schemas.microsoft.com/office/drawing/2014/main" val="1629883463"/>
                    </a:ext>
                  </a:extLst>
                </a:gridCol>
                <a:gridCol w="5191432">
                  <a:extLst>
                    <a:ext uri="{9D8B030D-6E8A-4147-A177-3AD203B41FA5}">
                      <a16:colId xmlns:a16="http://schemas.microsoft.com/office/drawing/2014/main" val="547556019"/>
                    </a:ext>
                  </a:extLst>
                </a:gridCol>
              </a:tblGrid>
              <a:tr h="384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 Area</a:t>
                      </a:r>
                      <a:endParaRPr lang="en-IN" sz="2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Failure Can Occur</a:t>
                      </a:r>
                      <a:endParaRPr lang="en-IN" sz="2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Reasons</a:t>
                      </a:r>
                      <a:endParaRPr lang="en-IN" sz="2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138115"/>
                  </a:ext>
                </a:extLst>
              </a:tr>
              <a:tr h="735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relationship between customers, products and transactions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Wrong IDs, incorrect relationships, duplicate records, improper mapping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51369"/>
                  </a:ext>
                </a:extLst>
              </a:tr>
              <a:tr h="707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Basket Formation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Products are assigned to the wrong transaction or customer basket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grouping, transaction ID errors, improper data transformation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775580"/>
                  </a:ext>
                </a:extLst>
              </a:tr>
              <a:tr h="747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Association Rule Mining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Irrelevant or incorrect rules are generated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support/confidence/lift calculation or poorly selected thresholds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031682"/>
                  </a:ext>
                </a:extLst>
              </a:tr>
              <a:tr h="747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Recommendation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recommends products that are not relevant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association rules, insufficient transaction history, incorrect recommendation logic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788451"/>
                  </a:ext>
                </a:extLst>
              </a:tr>
              <a:tr h="648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Segmentation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 are placed into inappropriate groups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purchase-frequency calculation or poorly defined segmentation rules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173338"/>
                  </a:ext>
                </a:extLst>
              </a:tr>
              <a:tr h="7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&amp; Visualization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Charts and results do not match the actual transaction data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 errors, outdated data, incorrect filtering or visualization logic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970745"/>
                  </a:ext>
                </a:extLst>
              </a:tr>
              <a:tr h="765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Recommendation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business suggestions are not useful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analytical results or weak product associations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58338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CF171-FF0C-B058-94F2-4087069C90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AI &amp; DS, MMOCE, Pune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160CA-CA6A-A426-B04C-F2ADEBBE71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17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31E06B-7BA6-3BF6-012F-5AA26486D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696212"/>
              </p:ext>
            </p:extLst>
          </p:nvPr>
        </p:nvGraphicFramePr>
        <p:xfrm>
          <a:off x="147483" y="1189703"/>
          <a:ext cx="11700388" cy="2165042"/>
        </p:xfrm>
        <a:graphic>
          <a:graphicData uri="http://schemas.openxmlformats.org/drawingml/2006/table">
            <a:tbl>
              <a:tblPr/>
              <a:tblGrid>
                <a:gridCol w="2290917">
                  <a:extLst>
                    <a:ext uri="{9D8B030D-6E8A-4147-A177-3AD203B41FA5}">
                      <a16:colId xmlns:a16="http://schemas.microsoft.com/office/drawing/2014/main" val="26092210"/>
                    </a:ext>
                  </a:extLst>
                </a:gridCol>
                <a:gridCol w="4218039">
                  <a:extLst>
                    <a:ext uri="{9D8B030D-6E8A-4147-A177-3AD203B41FA5}">
                      <a16:colId xmlns:a16="http://schemas.microsoft.com/office/drawing/2014/main" val="1629883463"/>
                    </a:ext>
                  </a:extLst>
                </a:gridCol>
                <a:gridCol w="5191432">
                  <a:extLst>
                    <a:ext uri="{9D8B030D-6E8A-4147-A177-3AD203B41FA5}">
                      <a16:colId xmlns:a16="http://schemas.microsoft.com/office/drawing/2014/main" val="547556019"/>
                    </a:ext>
                  </a:extLst>
                </a:gridCol>
              </a:tblGrid>
              <a:tr h="384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 Area</a:t>
                      </a:r>
                      <a:endParaRPr lang="en-IN" sz="2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Failure Can Occur</a:t>
                      </a:r>
                      <a:endParaRPr lang="en-IN" sz="2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Reasons</a:t>
                      </a:r>
                      <a:endParaRPr lang="en-IN" sz="2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138115"/>
                  </a:ext>
                </a:extLst>
              </a:tr>
              <a:tr h="721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Validation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generates unreliable basket analysis results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Insufficient test cases, small dataset, lack of validation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453679"/>
                  </a:ext>
                </a:extLst>
              </a:tr>
              <a:tr h="1058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Scope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cannot complete all planned modules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 many modules, limited time, insufficient task distribution</a:t>
                      </a:r>
                    </a:p>
                  </a:txBody>
                  <a:tcPr marL="47993" marR="47993" marT="23996" marB="2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21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5C7629-9560-5F05-FCF1-A78EE127C38E}"/>
              </a:ext>
            </a:extLst>
          </p:cNvPr>
          <p:cNvSpPr txBox="1"/>
          <p:nvPr/>
        </p:nvSpPr>
        <p:spPr>
          <a:xfrm>
            <a:off x="2359742" y="103483"/>
            <a:ext cx="7983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Risk Areas and Potential Challenges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28A469-085E-5490-FA8E-52E634A24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AI &amp; DS, MMOCE, Pune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2A-8C1C-414C-65D1-9741A22820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494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1883238" y="0"/>
            <a:ext cx="8228880" cy="1249823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 b="0" strike="noStrike">
                <a:solidFill>
                  <a:srgbClr val="222222"/>
                </a:solidFill>
                <a:highlight>
                  <a:srgbClr val="C9DAF8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Project Theme 2: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highlight>
                  <a:srgbClr val="C9DAF8"/>
                </a:highlight>
                <a:latin typeface="Cambria"/>
                <a:ea typeface="Cambria"/>
                <a:cs typeface="Cambria"/>
                <a:sym typeface="Cambria"/>
              </a:rPr>
              <a:t>Crop</a:t>
            </a:r>
            <a:r>
              <a:rPr lang="en-IN" sz="3600" b="1">
                <a:solidFill>
                  <a:schemeClr val="dk1"/>
                </a:solidFill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3600" b="1">
                <a:solidFill>
                  <a:schemeClr val="dk1"/>
                </a:solidFill>
                <a:highlight>
                  <a:srgbClr val="C9DAF8"/>
                </a:highlight>
                <a:latin typeface="Cambria"/>
                <a:ea typeface="Cambria"/>
                <a:cs typeface="Cambria"/>
                <a:sym typeface="Cambria"/>
              </a:rPr>
              <a:t>Yield Advisory Analytics</a:t>
            </a:r>
            <a:endParaRPr sz="3400" b="1" strike="noStrike">
              <a:solidFill>
                <a:schemeClr val="dk1"/>
              </a:solidFill>
              <a:highlight>
                <a:srgbClr val="C9DA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393290" y="2708291"/>
            <a:ext cx="4660500" cy="3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1: Data Collection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crop and soil data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weather and rainfall data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fertilizer and irrigation details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historical crop-yield data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Programming Languages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Exploration Lab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6096000" y="2708291"/>
            <a:ext cx="60960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2: Database Management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farmer and farm details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crop, soil and weather data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yield records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CRUD operations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 data using SQL queries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393300" y="1363325"/>
            <a:ext cx="6789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of the Project :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39006-CF81-CC61-A925-DFC08DFD4A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521110" y="572924"/>
            <a:ext cx="60960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3: Statistical Analysis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mean, median and standard deviation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crop-yield trends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relationships between weather, soil and yield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crop performance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important yield factors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Mathematics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Artificial Intelligence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6204156" y="572924"/>
            <a:ext cx="60960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4: Recommendation Engine</a:t>
            </a:r>
            <a:endParaRPr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cs typeface="Times New Roman"/>
              </a:rPr>
              <a:t>Estimate expected yield using historical statistics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cs typeface="Times New Roman"/>
              </a:rPr>
              <a:t>Recommend suitable crops based on soil, weather and rainfall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cs typeface="Times New Roman"/>
              </a:rPr>
              <a:t>Recommend fertilizer based on soil nutrient levels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cs typeface="Times New Roman"/>
              </a:rPr>
              <a:t>Suggest irrigation requirements based on rainfall and soil moisture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cs typeface="Times New Roman"/>
              </a:rPr>
              <a:t>Generate rule-based yield improvement advice</a:t>
            </a:r>
          </a:p>
          <a:p>
            <a:pPr marL="342900" indent="-342900"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→ Statistical Analysis → Rule-Based Decision Engine → Recommendation</a:t>
            </a:r>
            <a:endParaRPr lang="en-US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Artificial Intelligence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D08CE6-5DC2-DCF7-E0FE-F13087B2B0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875071" y="424592"/>
            <a:ext cx="60960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5: Dashboard &amp; Reports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predicted crop yield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crop-wise and seasonal trends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 weather and yield relationships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recommendations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analytical reports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EDIL Lab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Artificial Intelligence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C8541-8E20-CD4B-BB39-9DACB2E16E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3C24A-3CFF-9847-9396-60C1B3C5C0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AI &amp; DS, MMOCE,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179CF-9D42-4A2B-BECA-5FEF52750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DD624-8DFD-7FA5-91A5-E4B75DCF7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89" y="807065"/>
            <a:ext cx="9076403" cy="60509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F27B10-8159-0984-C119-8E5EBDEEC24E}"/>
              </a:ext>
            </a:extLst>
          </p:cNvPr>
          <p:cNvSpPr txBox="1"/>
          <p:nvPr/>
        </p:nvSpPr>
        <p:spPr>
          <a:xfrm>
            <a:off x="4038600" y="24209"/>
            <a:ext cx="371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74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E1AA46-A4B7-9BAA-C232-54B1012D9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426298"/>
              </p:ext>
            </p:extLst>
          </p:nvPr>
        </p:nvGraphicFramePr>
        <p:xfrm>
          <a:off x="172465" y="609600"/>
          <a:ext cx="11606579" cy="5567416"/>
        </p:xfrm>
        <a:graphic>
          <a:graphicData uri="http://schemas.openxmlformats.org/drawingml/2006/table">
            <a:tbl>
              <a:tblPr/>
              <a:tblGrid>
                <a:gridCol w="2334759">
                  <a:extLst>
                    <a:ext uri="{9D8B030D-6E8A-4147-A177-3AD203B41FA5}">
                      <a16:colId xmlns:a16="http://schemas.microsoft.com/office/drawing/2014/main" val="2756981267"/>
                    </a:ext>
                  </a:extLst>
                </a:gridCol>
                <a:gridCol w="3913241">
                  <a:extLst>
                    <a:ext uri="{9D8B030D-6E8A-4147-A177-3AD203B41FA5}">
                      <a16:colId xmlns:a16="http://schemas.microsoft.com/office/drawing/2014/main" val="619197234"/>
                    </a:ext>
                  </a:extLst>
                </a:gridCol>
                <a:gridCol w="5358579">
                  <a:extLst>
                    <a:ext uri="{9D8B030D-6E8A-4147-A177-3AD203B41FA5}">
                      <a16:colId xmlns:a16="http://schemas.microsoft.com/office/drawing/2014/main" val="1060243890"/>
                    </a:ext>
                  </a:extLst>
                </a:gridCol>
              </a:tblGrid>
              <a:tr h="179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 Area</a:t>
                      </a:r>
                      <a:endParaRPr lang="en-IN" sz="2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Failure Can Occur</a:t>
                      </a:r>
                      <a:endParaRPr lang="en-IN" sz="2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Reasons</a:t>
                      </a:r>
                      <a:endParaRPr lang="en-IN" sz="2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364601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Incomplete or incorrect agricultural data is collected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weather, soil, fertilizer, irrigation, or yield data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056867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relationship between farm, crop, weather and yield records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Wrong IDs, incorrect relationships, duplicate records, improper mapping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038838"/>
                  </a:ext>
                </a:extLst>
              </a:tr>
              <a:tr h="431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Analysis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conclusions are drawn from the data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factors may influence yield; correlation alone does not prove causation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608577"/>
                  </a:ext>
                </a:extLst>
              </a:tr>
              <a:tr h="431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Estimation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yield differs significantly from actual yield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Insufficient historical data, inaccurate records, or important factors not considered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552907"/>
                  </a:ext>
                </a:extLst>
              </a:tr>
              <a:tr h="431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Recommendation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recommends an unsuitable crop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soil/weather conditions, incomplete rules, or insufficient historical data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423536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 Engine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Recommendations are not relevant to the given farm conditions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Poorly defined IF–THEN rules or incorrect input data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701622"/>
                  </a:ext>
                </a:extLst>
              </a:tr>
              <a:tr h="305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Integration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 modules work but fail when integrated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Data-flow errors, incompatible modules, or incorrect function/API integration</a:t>
                      </a:r>
                    </a:p>
                  </a:txBody>
                  <a:tcPr marL="53942" marR="53942" marT="26971" marB="269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129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7D362B-FA0B-02EB-DD34-6A04FEFAD663}"/>
              </a:ext>
            </a:extLst>
          </p:cNvPr>
          <p:cNvSpPr txBox="1"/>
          <p:nvPr/>
        </p:nvSpPr>
        <p:spPr>
          <a:xfrm>
            <a:off x="2379406" y="-63666"/>
            <a:ext cx="7983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Risk Areas and Potential Challenges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C76DBE-03E6-08F9-BBD3-EA3B1A0037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Department of AI &amp; DS, MMOCE, Pune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AB5BA3-37E5-87BF-DBBF-CF13B9EBDD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177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AI &amp; DS, MMOCE, Pune</a:t>
            </a:r>
            <a:endParaRPr/>
          </a:p>
        </p:txBody>
      </p:sp>
      <p:pic>
        <p:nvPicPr>
          <p:cNvPr id="183" name="Google Shape;1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825" y="961025"/>
            <a:ext cx="5962650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B195EB-6A6A-A043-FA0A-35B1B54817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1613</Words>
  <Application>Microsoft Office PowerPoint</Application>
  <PresentationFormat>Widescreen</PresentationFormat>
  <Paragraphs>395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Times New Roman</vt:lpstr>
      <vt:lpstr>Calibri</vt:lpstr>
      <vt:lpstr>Cambria</vt:lpstr>
      <vt:lpstr>Arial</vt:lpstr>
      <vt:lpstr>Noto Sans Symbols</vt:lpstr>
      <vt:lpstr>Abril Fatface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Deepali Bhaturkar</dc:creator>
  <cp:lastModifiedBy>Deepali Bhaturkar</cp:lastModifiedBy>
  <cp:revision>4</cp:revision>
  <dcterms:created xsi:type="dcterms:W3CDTF">2026-08-13T05:48:25Z</dcterms:created>
  <dcterms:modified xsi:type="dcterms:W3CDTF">2026-08-19T09:29:09Z</dcterms:modified>
</cp:coreProperties>
</file>